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70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14FEC-9AF5-2205-5E76-8174C0096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145" y="1061642"/>
            <a:ext cx="9366816" cy="2141646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Segunda revolução industrial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612308F-168E-ADD4-3C3F-7CDCD849D406}"/>
              </a:ext>
            </a:extLst>
          </p:cNvPr>
          <p:cNvSpPr txBox="1"/>
          <p:nvPr/>
        </p:nvSpPr>
        <p:spPr>
          <a:xfrm rot="16726753" flipV="1">
            <a:off x="4606773" y="987648"/>
            <a:ext cx="5792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pt-BR" sz="1000" b="1" i="1" u="sng" dirty="0"/>
          </a:p>
        </p:txBody>
      </p:sp>
      <p:pic>
        <p:nvPicPr>
          <p:cNvPr id="14" name="Imagem 5">
            <a:extLst>
              <a:ext uri="{FF2B5EF4-FFF2-40B4-BE49-F238E27FC236}">
                <a16:creationId xmlns:a16="http://schemas.microsoft.com/office/drawing/2014/main" id="{F89D89AC-0828-F37A-1DA9-4F4CACC8B6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269" y="398725"/>
            <a:ext cx="1127482" cy="317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m 3">
            <a:extLst>
              <a:ext uri="{FF2B5EF4-FFF2-40B4-BE49-F238E27FC236}">
                <a16:creationId xmlns:a16="http://schemas.microsoft.com/office/drawing/2014/main" id="{F8458D05-319A-B0D0-4668-1404B46066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50" y="398725"/>
            <a:ext cx="157162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m 4">
            <a:extLst>
              <a:ext uri="{FF2B5EF4-FFF2-40B4-BE49-F238E27FC236}">
                <a16:creationId xmlns:a16="http://schemas.microsoft.com/office/drawing/2014/main" id="{8CA9F07A-3BE5-CA20-5DA1-FC22DC1F2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808564" y="174888"/>
            <a:ext cx="3429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1702812-FE8C-0CE6-6F6D-BBDDB672C9A5}"/>
              </a:ext>
            </a:extLst>
          </p:cNvPr>
          <p:cNvSpPr txBox="1"/>
          <p:nvPr/>
        </p:nvSpPr>
        <p:spPr>
          <a:xfrm>
            <a:off x="2924356" y="716387"/>
            <a:ext cx="6111316" cy="788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tabLst>
                <a:tab pos="2700020" algn="ctr"/>
                <a:tab pos="5400040" algn="r"/>
              </a:tabLst>
            </a:pPr>
            <a:r>
              <a:rPr lang="pt-BR" sz="800" b="1">
                <a:solidFill>
                  <a:srgbClr val="0F243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GOVERNO DO ESTADO DO PARÁ</a:t>
            </a:r>
            <a:endParaRPr lang="en-NZ" sz="24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tabLst>
                <a:tab pos="2700020" algn="ctr"/>
                <a:tab pos="5400040" algn="r"/>
              </a:tabLst>
            </a:pPr>
            <a:r>
              <a:rPr lang="pt-BR" sz="800" b="1">
                <a:solidFill>
                  <a:srgbClr val="0F243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SECRETARIA DE ESTADO DE CIÊNCIA, TECNOLOGIA E EDUCAÇÃO</a:t>
            </a:r>
            <a:endParaRPr lang="en-NZ" sz="24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tabLst>
                <a:tab pos="2700020" algn="ctr"/>
                <a:tab pos="5400040" algn="r"/>
              </a:tabLst>
            </a:pPr>
            <a:r>
              <a:rPr lang="pt-BR" sz="800" b="1">
                <a:solidFill>
                  <a:srgbClr val="0F243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SUPERIOR PROFISSIONAL E TECNOLÓGICA - SECTET</a:t>
            </a:r>
            <a:endParaRPr lang="en-NZ" sz="24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tabLst>
                <a:tab pos="2700020" algn="ctr"/>
                <a:tab pos="5400040" algn="r"/>
              </a:tabLst>
            </a:pPr>
            <a:r>
              <a:rPr lang="pt-BR" sz="800" b="1">
                <a:solidFill>
                  <a:srgbClr val="0F243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DIRETORIA DE EDUCAÇÃO SUPERIOR, PROFISSIONAL E TECNOLÓGICA - DETEC</a:t>
            </a:r>
            <a:endParaRPr lang="en-NZ" sz="24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tabLst>
                <a:tab pos="2700020" algn="ctr"/>
                <a:tab pos="5400040" algn="r"/>
              </a:tabLst>
            </a:pPr>
            <a:r>
              <a:rPr lang="pt-BR" sz="800" b="1">
                <a:solidFill>
                  <a:srgbClr val="0F243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ESCOLA ESTADUAL DE EDUCAÇÃO PROFISSIONAL E TECNOLÓGICA DE ORIXIMINÁ – EETEPA</a:t>
            </a:r>
            <a:endParaRPr lang="en-NZ" sz="24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5906EF-69AF-C777-E640-27AD9FB76348}"/>
              </a:ext>
            </a:extLst>
          </p:cNvPr>
          <p:cNvSpPr txBox="1"/>
          <p:nvPr/>
        </p:nvSpPr>
        <p:spPr>
          <a:xfrm>
            <a:off x="4762947" y="6478932"/>
            <a:ext cx="330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Abril/2026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A8A0A0-9FDC-3D6B-10F6-0D0E84899C65}"/>
              </a:ext>
            </a:extLst>
          </p:cNvPr>
          <p:cNvSpPr txBox="1"/>
          <p:nvPr/>
        </p:nvSpPr>
        <p:spPr>
          <a:xfrm>
            <a:off x="303609" y="3845820"/>
            <a:ext cx="61113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pt-BR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Alunos:WAYNER</a:t>
            </a:r>
            <a:r>
              <a:rPr lang="pt-BR" sz="2000" dirty="0">
                <a:solidFill>
                  <a:srgbClr val="000000"/>
                </a:solidFill>
                <a:latin typeface="Arial" panose="020B0604020202020204" pitchFamily="34" charset="0"/>
              </a:rPr>
              <a:t> RICHARD, ERICK DA CRUZ,NAIRA,NAUHANNA BATISTA, CARLOS EDUARDO E MATHEUS HILTON </a:t>
            </a:r>
            <a:endParaRPr lang="pt-BR" sz="2000" dirty="0">
              <a:effectLst/>
            </a:endParaRPr>
          </a:p>
          <a:p>
            <a:pPr rtl="0">
              <a:buNone/>
            </a:pP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Turma:P3TI01</a:t>
            </a:r>
            <a:endParaRPr lang="pt-BR" sz="2000" dirty="0">
              <a:effectLst/>
            </a:endParaRPr>
          </a:p>
          <a:p>
            <a:pPr rtl="0">
              <a:buNone/>
            </a:pP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Professor: </a:t>
            </a:r>
            <a:r>
              <a:rPr lang="pt-BR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Everino</a:t>
            </a: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lang="pt-BR" sz="2000" dirty="0">
              <a:effectLst/>
            </a:endParaRPr>
          </a:p>
          <a:p>
            <a:pPr rtl="0">
              <a:buNone/>
            </a:pP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Data:4:05:2026</a:t>
            </a:r>
            <a:endParaRPr lang="pt-BR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43130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AB412-F833-E253-2022-1BF4100A1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Segunda Revolução Industrial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AADCCE-38D4-49B4-1ADB-56338CD6E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826481" cy="4393802"/>
          </a:xfrm>
        </p:spPr>
        <p:txBody>
          <a:bodyPr>
            <a:normAutofit/>
          </a:bodyPr>
          <a:lstStyle/>
          <a:p>
            <a:r>
              <a:rPr lang="pt-BR" sz="2800" dirty="0"/>
              <a:t>Período: 1850 a 1914
Surgiu após a Primeira Revolução Industrial
Marcada por grandes avanços tecnológicos
Transformou a economia e a sociedade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995564C-CB03-2FA5-0C30-83CC3E84E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576" y="1614798"/>
            <a:ext cx="5423424" cy="463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22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CCE99-58D8-FDCF-89D8-77BAFD71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2 – Avanços Tecnológicos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D89466-2475-5A1E-E323-5DDB7617B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842" y="1375173"/>
            <a:ext cx="5249002" cy="5250655"/>
          </a:xfrm>
        </p:spPr>
        <p:txBody>
          <a:bodyPr>
            <a:normAutofit/>
          </a:bodyPr>
          <a:lstStyle/>
          <a:p>
            <a:r>
              <a:rPr lang="pt-BR" sz="2800" dirty="0"/>
              <a:t>Criação de novas máquinas industriais
Desenvolvimento da ciência aplicada
Automação inicial da produção
Aumento da eficiência nas fábricas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6465B20-7C08-BB52-D758-8933F6502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4" y="1535905"/>
            <a:ext cx="5923360" cy="433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10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866A5-A681-2235-8B86-5E1D7D5D3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3 – Uso da Eletricidade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D7D959-3CF5-8F92-98E2-506372A07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866" y="1165621"/>
            <a:ext cx="4260010" cy="4924426"/>
          </a:xfrm>
        </p:spPr>
        <p:txBody>
          <a:bodyPr>
            <a:normAutofit/>
          </a:bodyPr>
          <a:lstStyle/>
          <a:p>
            <a:r>
              <a:rPr lang="pt-BR" sz="2800" dirty="0"/>
              <a:t>Substituiu o carvão em muitos casos
Iluminação pública e industrial
Máquinas elétricas mais eficientes
Expansão das cidades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2E6C79C-D92D-48A7-3EE0-1CF638D0D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145" y="1522808"/>
            <a:ext cx="6434346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0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762E7-ACFF-73E6-7C28-B2B40E519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4 – Indústria do Aço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D366B1-9D0A-7818-FFE3-A0F9EADF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600" y="1408908"/>
            <a:ext cx="4445000" cy="4839491"/>
          </a:xfrm>
        </p:spPr>
        <p:txBody>
          <a:bodyPr>
            <a:normAutofit/>
          </a:bodyPr>
          <a:lstStyle/>
          <a:p>
            <a:r>
              <a:rPr lang="pt-BR" sz="3200" dirty="0"/>
              <a:t>Substituiu o ferro
Mais resistente e durável
Usado em construções e máquinas
Expansão de pontes e arranha-céus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E6D027-54C9-FFD1-D277-4CECA0AB5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437" y="1300166"/>
            <a:ext cx="6320229" cy="483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943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2DDC1F-DE44-4781-67B1-4D5D9AAE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5 – Petróleo e Combustíveis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F69DEF-18F3-6291-3B52-BA2D4913D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4032"/>
            <a:ext cx="4198275" cy="5523968"/>
          </a:xfrm>
        </p:spPr>
        <p:txBody>
          <a:bodyPr>
            <a:normAutofit/>
          </a:bodyPr>
          <a:lstStyle/>
          <a:p>
            <a:r>
              <a:rPr lang="pt-BR" sz="3200" dirty="0"/>
              <a:t>Nova fonte de energia
Produção de gasolina e diesel
Importante para máquinas e veículos
Base da indústria moderna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7372793-8B0D-33AD-7542-AD10A897B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665" y="721074"/>
            <a:ext cx="4198274" cy="613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47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0025D-B1DD-5A89-E9F5-12E19D24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6 – Transportes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5D0047-57F1-E26B-CE5B-0985A2F53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68" y="1270000"/>
            <a:ext cx="4626900" cy="4697411"/>
          </a:xfrm>
        </p:spPr>
        <p:txBody>
          <a:bodyPr>
            <a:normAutofit/>
          </a:bodyPr>
          <a:lstStyle/>
          <a:p>
            <a:r>
              <a:rPr lang="pt-BR" sz="3200" dirty="0"/>
              <a:t>Expansão das ferrovias
Navios a vapor mais rápidos
Surgimento do automóvel
Facilitação do comércio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9C5DC3C-D59C-6F2F-AFEF-7B8AD36C4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234" y="593223"/>
            <a:ext cx="5509802" cy="283577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6837BDD-74A8-7471-AA7C-81C908699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234" y="3369271"/>
            <a:ext cx="5732860" cy="311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27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67943-A648-9AEE-400C-693460E85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7 – Comunicação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F3C7A9-3C2F-FBF2-0539-71272E1A5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25" y="1726672"/>
            <a:ext cx="4093309" cy="4411661"/>
          </a:xfrm>
        </p:spPr>
        <p:txBody>
          <a:bodyPr>
            <a:noAutofit/>
          </a:bodyPr>
          <a:lstStyle/>
          <a:p>
            <a:r>
              <a:rPr lang="pt-BR" sz="3600" dirty="0"/>
              <a:t>Invenção do telégrafo
Criação do telefone
Comunicação mais rápida
Integração entre países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F6F7226-E68B-F05C-6574-A5845C95A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68" y="829733"/>
            <a:ext cx="6740822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087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D3DAB-8888-34EC-A1A9-0476DE48E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8 – Produção em Massa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FF49A4-C954-4350-64B1-E6EA6CFF7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80" y="1491060"/>
            <a:ext cx="3598154" cy="3875880"/>
          </a:xfrm>
        </p:spPr>
        <p:txBody>
          <a:bodyPr>
            <a:noAutofit/>
          </a:bodyPr>
          <a:lstStyle/>
          <a:p>
            <a:r>
              <a:rPr lang="pt-BR" sz="3600" dirty="0"/>
              <a:t>Linha de montagem
Produção em grande escala
Redução de custos
Produtos mais acessíveis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48A04EE-3F56-5B33-B25C-3EBE1869D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054" y="1435895"/>
            <a:ext cx="6745427" cy="500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300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F94059-A4F4-93FB-48CF-A0D7FCB8E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9-Crescimento Urbano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CA4C95-D93E-C821-B3C6-2AAFFAF68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724" y="1270000"/>
            <a:ext cx="5722276" cy="4978400"/>
          </a:xfrm>
        </p:spPr>
        <p:txBody>
          <a:bodyPr>
            <a:normAutofit/>
          </a:bodyPr>
          <a:lstStyle/>
          <a:p>
            <a:r>
              <a:rPr lang="pt-BR" sz="3200" dirty="0"/>
              <a:t>Migração do campo para a cidade
Crescimento das indústrias
Aumento da população urbana
Surgimento de grandes centros urbanos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A2D378-2491-546B-443D-813523B2B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373" y="1050131"/>
            <a:ext cx="631507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4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CEE7C-3534-E965-90CB-0AF843BD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10-Impactos Sociais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21D7B3-A824-B2BA-6341-8358B559B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1396"/>
            <a:ext cx="5418666" cy="4215208"/>
          </a:xfrm>
        </p:spPr>
        <p:txBody>
          <a:bodyPr>
            <a:normAutofit/>
          </a:bodyPr>
          <a:lstStyle/>
          <a:p>
            <a:r>
              <a:rPr lang="pt-BR" sz="3200" dirty="0"/>
              <a:t>Surgimento da classe operária
Longas jornadas de trabalho
Baixos salários
Movimentos trabalhistas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ED188E-C1F3-3833-3AEB-3D69CF1DF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602" y="793551"/>
            <a:ext cx="6374475" cy="5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13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3A022-3A84-A20A-5AB2-8B27902C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6600" dirty="0">
                <a:solidFill>
                  <a:schemeClr val="tx1"/>
                </a:solidFill>
              </a:rPr>
              <a:t>Curiosidade da segunda revolução industrial </a:t>
            </a:r>
          </a:p>
        </p:txBody>
      </p:sp>
    </p:spTree>
    <p:extLst>
      <p:ext uri="{BB962C8B-B14F-4D97-AF65-F5344CB8AC3E}">
        <p14:creationId xmlns:p14="http://schemas.microsoft.com/office/powerpoint/2010/main" val="838253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1DDAD-A537-9754-A30C-92AFC5BCB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0399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1"/>
                </a:solidFill>
              </a:rPr>
              <a:t>11-Curiosidades,arranha céu</a:t>
            </a:r>
            <a:br>
              <a:rPr lang="pt-BR" dirty="0">
                <a:solidFill>
                  <a:schemeClr val="tx1"/>
                </a:solidFill>
              </a:rPr>
            </a:b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02B4F8-700A-D858-7787-5B96B63C5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06" y="1269999"/>
            <a:ext cx="4008920" cy="5855891"/>
          </a:xfrm>
        </p:spPr>
        <p:txBody>
          <a:bodyPr>
            <a:normAutofit/>
          </a:bodyPr>
          <a:lstStyle/>
          <a:p>
            <a:r>
              <a:rPr lang="pt-BR" sz="3200" dirty="0"/>
              <a:t>Nome: Home </a:t>
            </a:r>
            <a:r>
              <a:rPr lang="pt-BR" sz="3200" dirty="0" err="1"/>
              <a:t>Insurance</a:t>
            </a:r>
            <a:r>
              <a:rPr lang="pt-BR" sz="3200" dirty="0"/>
              <a:t> </a:t>
            </a:r>
            <a:r>
              <a:rPr lang="pt-BR" sz="3200" dirty="0" err="1"/>
              <a:t>Building</a:t>
            </a:r>
            <a:r>
              <a:rPr lang="pt-BR" sz="3200" dirty="0"/>
              <a:t>
Local: Chicago
Construído em 1885
Tinha 10 andares
Usava estrutura de aço (inovação da época)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85F1E4A-D2F3-32B2-89E7-EBDF70E2F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6" y="1406909"/>
            <a:ext cx="7234883" cy="51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03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8BC60-1A2B-B598-C8FC-F99F2F80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45269" cy="2465550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12-Curiosidade – Primeiras grandes pontes de aço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96BF8-91F5-0540-3083-E31338E4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199" y="1330205"/>
            <a:ext cx="3816513" cy="5141910"/>
          </a:xfrm>
        </p:spPr>
        <p:txBody>
          <a:bodyPr>
            <a:normAutofit/>
          </a:bodyPr>
          <a:lstStyle/>
          <a:p>
            <a:r>
              <a:rPr lang="pt-BR" sz="3200" dirty="0"/>
              <a:t>Exemplo famoso: Brooklyn Bridge
Local: Nova York
Inaugurada em 1883
Uma das primeiras grandes pontes suspensas de aço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834B6B5-CFCC-B596-28D3-1BD020110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641" y="1330205"/>
            <a:ext cx="7201297" cy="514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9392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Facetado</vt:lpstr>
      <vt:lpstr>Segunda revolução industrial </vt:lpstr>
      <vt:lpstr>Segunda Revolução Industrial</vt:lpstr>
      <vt:lpstr>2 – Avanços Tecnológicos</vt:lpstr>
      <vt:lpstr>3 – Uso da Eletricidade</vt:lpstr>
      <vt:lpstr>4 – Indústria do Aço</vt:lpstr>
      <vt:lpstr>5 – Petróleo e Combustíveis</vt:lpstr>
      <vt:lpstr>6 – Transportes</vt:lpstr>
      <vt:lpstr>7 – Comunicação</vt:lpstr>
      <vt:lpstr>8 – Produção em Massa</vt:lpstr>
      <vt:lpstr>9-Crescimento Urbano</vt:lpstr>
      <vt:lpstr>10-Impactos Sociais</vt:lpstr>
      <vt:lpstr>Curiosidade da segunda revolução industrial </vt:lpstr>
      <vt:lpstr>11-Curiosidades,arranha céu </vt:lpstr>
      <vt:lpstr>12-Curiosidade – Primeiras grandes pontes de aço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Wayne Richard</dc:creator>
  <cp:lastModifiedBy>Wayne Richard</cp:lastModifiedBy>
  <cp:revision>6</cp:revision>
  <dcterms:created xsi:type="dcterms:W3CDTF">2026-04-21T16:36:55Z</dcterms:created>
  <dcterms:modified xsi:type="dcterms:W3CDTF">2026-05-03T17:45:44Z</dcterms:modified>
</cp:coreProperties>
</file>